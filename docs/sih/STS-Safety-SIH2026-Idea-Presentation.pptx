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tourism.gov.in/sites/default/files/2024-12/PIB2082598.pdf" TargetMode="External"/><Relationship Id="rId5" Type="http://schemas.openxmlformats.org/officeDocument/2006/relationships/hyperlink" Target="https://tourism.gov.in/sites/default/files/2025-02/India%20Tourism%20Data%20Compendium%20key%20highlights%202024.pdf" TargetMode="External"/><Relationship Id="rId6" Type="http://schemas.openxmlformats.org/officeDocument/2006/relationships/hyperlink" Target="https://www.pib.gov.in/PressReleasePage.aspx?PRID=2240657" TargetMode="External"/><Relationship Id="rId7" Type="http://schemas.openxmlformats.org/officeDocument/2006/relationships/hyperlink" Target="https://sansad.in/getFile/lsapps/loksabhaquestions/annex/188/AU1299_510Xy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5650992" cy="452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Problem Statement ID  –  SIH25002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Problem Statement Title  –  Smart Tourist Safety Monitoring &amp; Incident Response System using AI, Geo-Fencing, and Blockchain-based Digital ID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Theme  –  Travel &amp; Tourism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PS Category  –  Software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Organisation  –  Ministry of Development of North Eastern Region (MDoNER)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Team Name  –  STS Safety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492240" y="1380744"/>
            <a:ext cx="5248656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pic>
        <p:nvPicPr>
          <p:cNvPr id="39" name="Picture 38" descr="landing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417320"/>
            <a:ext cx="5175504" cy="31272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28816" y="4599431"/>
            <a:ext cx="51755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Working prototype · tourist and command surfaces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480060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4800600"/>
            <a:ext cx="2505456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PRODUCT · ₹0 INFRA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72768" y="73152"/>
            <a:ext cx="7863840" cy="658368"/>
          </a:xfrm>
        </p:spPr>
        <p:txBody>
          <a:bodyPr/>
          <a:lstStyle/>
          <a:p>
            <a:pPr eaLnBrk="1" hangingPunct="1" algn="l"/>
            <a:r>
              <a:rPr sz="28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STS SAFETY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36C21"/>
          </a:solidFill>
          <a:ln w="9525">
            <a:solidFill>
              <a:srgbClr val="F36C2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STS Safety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01168" y="841248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201168" y="841248"/>
            <a:ext cx="23317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606040" y="822960"/>
            <a:ext cx="6766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Safety that works when the hills go dark  ·  Working prototype, not a mock-up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164592" y="1152144"/>
            <a:ext cx="3858768" cy="3218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66" name="Rectangle 15365"/>
          <p:cNvSpPr/>
          <p:nvPr/>
        </p:nvSpPr>
        <p:spPr>
          <a:xfrm>
            <a:off x="164592" y="1152144"/>
            <a:ext cx="3858768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274320" y="117043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 The problem  —  North-East tourist safety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74320" y="1517904"/>
            <a:ext cx="3621024" cy="2761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Tourism is national-scale. Coverage is not.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1.21 crore domestic + 2.21 lakh foreign visits to the 8 NE states in 2023 (PIB / State Tourism Depts).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NE share of India’s foreign tourist arrivals is only 2.05% (1.95 lakh; MoT Compendium 2024) — a priority region that is still under-visited.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7 of 8 NE states have no dedicated Tourist Police. MoT’s 15-state list includes Sikkim only (Lok Sabha 27.07.2026).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NCRB does not maintain crime data on domestic tourists. 156 cases against foreign tourists were registered in 2024 (NCRB / LS AU1299) — missing-person, restricted-zone and signal-loss events are invisible.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Check-post, hotel, forest office and police do not share a database. A Tawang checkpoint cannot verify a Guwahati-issued ID if the issuing server is down.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PS ask: digital ID + geo-fence + AI + SOS + E-FIR — with DPDP-safe privacy.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133087" y="1152144"/>
            <a:ext cx="4005072" cy="3218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4133087" y="1152144"/>
            <a:ext cx="4005072" cy="310896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4242816" y="1170432"/>
            <a:ext cx="37856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 Three-layer system  (the prototype)</a:t>
            </a:r>
          </a:p>
        </p:txBody>
      </p:sp>
      <p:sp>
        <p:nvSpPr>
          <p:cNvPr id="15372" name="Oval 15371"/>
          <p:cNvSpPr/>
          <p:nvPr/>
        </p:nvSpPr>
        <p:spPr>
          <a:xfrm>
            <a:off x="4261104" y="1536192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4261104" y="1563624"/>
            <a:ext cx="2926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626864" y="1517904"/>
            <a:ext cx="3383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Geo-fence in Postgres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626864" y="1737360"/>
            <a:ext cx="3383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AFTER INSERT trigger + PostGIS ST_Covers / ST_DWithin. The phone cannot skip an incident. Debounce via partial unique index so a border-stander does not generate 400 alerts.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4261104" y="2432304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4261104" y="2459736"/>
            <a:ext cx="2926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4626864" y="2414016"/>
            <a:ext cx="3383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Soulbound digital ID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4626864" y="2633472"/>
            <a:ext cx="3383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ERC-5192 locked TDID on Polygon Amoy. Chain stores only keccak256(KYC ‖ salt) + itinerary hash. KYC stays pgcrypto-encrypted in Postgres. Selective disclosure at /verify.</a:t>
            </a:r>
          </a:p>
        </p:txBody>
      </p:sp>
      <p:sp>
        <p:nvSpPr>
          <p:cNvPr id="15380" name="Oval 15379"/>
          <p:cNvSpPr/>
          <p:nvPr/>
        </p:nvSpPr>
        <p:spPr>
          <a:xfrm>
            <a:off x="4261104" y="3328416"/>
            <a:ext cx="292608" cy="2926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4261104" y="3355848"/>
            <a:ext cx="29260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4626864" y="3310128"/>
            <a:ext cx="3383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AI beside the path — never on it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626864" y="3529584"/>
            <a:ext cx="3383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Tier-1 SQL rules always fire. IsolationForest only ranks. Groq/Gemini write the brief &amp; E-FIR draft. If HF Space, Groq and Amoy are all down, SOS still lands.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247888" y="1152144"/>
            <a:ext cx="3767328" cy="3218688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8375904" y="1225296"/>
            <a:ext cx="3511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3.  What no typical build does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8375904" y="1536192"/>
            <a:ext cx="35112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Safety path is the database.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8522208" y="1719072"/>
            <a:ext cx="336499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Blockchain and AI sit beside it. Unplug the WAN: Realtime + Anvil + ONNX + PMTiles still demo.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8375904" y="2084831"/>
            <a:ext cx="35112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On-device warning first.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8522208" y="2267712"/>
            <a:ext cx="336499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Turf.js evaluates cached zones before the packet arrives. IndexedDB + Background Sync + sms: fallback for Arunachal towers.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8375904" y="2633472"/>
            <a:ext cx="35112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Lawful identity, not an NFT.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8522208" y="2816352"/>
            <a:ext cx="336499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Zero PII on-chain. Hotel learns match / no-match, never the passport number. Expired trip auto-invalidates on-chain.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8375904" y="3182112"/>
            <a:ext cx="35112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Evidentiary E-FIR, not a chatbot FIR.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522208" y="3364992"/>
            <a:ext cx="336499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Officer must approve. PDF hash is anchored. LLM never files to CCTNS.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375904" y="3730752"/>
            <a:ext cx="35112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Honest ML.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522208" y="3913632"/>
            <a:ext cx="336499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Trained on synthetic NE trajectories (DPDP). Hold-out: 0 FP on 1,500 normal-trek windows. Rules catch what the forest misses.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164592" y="4462272"/>
            <a:ext cx="2304288" cy="841248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201168" y="4535424"/>
            <a:ext cx="2231136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180–450 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SOS → first channel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measured, local stack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2578608" y="4462272"/>
            <a:ext cx="2304288" cy="841248"/>
          </a:xfrm>
          <a:prstGeom prst="roundRect">
            <a:avLst>
              <a:gd name="adj" fmla="val 10000"/>
            </a:avLst>
          </a:prstGeom>
          <a:solidFill>
            <a:srgbClr val="0E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2615184" y="4535424"/>
            <a:ext cx="2231136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FP / 1,500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normal-trek hold-out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IsolationForest; rules still decide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4992624" y="4462272"/>
            <a:ext cx="2304288" cy="841248"/>
          </a:xfrm>
          <a:prstGeom prst="roundRect">
            <a:avLst>
              <a:gd name="adj" fmla="val 10000"/>
            </a:avLst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5029200" y="4535424"/>
            <a:ext cx="2231136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₹0 infra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credit card in the stack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Vercel + Supabase + HF + Amoy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7406640" y="4462272"/>
            <a:ext cx="2304288" cy="841248"/>
          </a:xfrm>
          <a:prstGeom prst="roundRect">
            <a:avLst>
              <a:gd name="adj" fmla="val 10000"/>
            </a:avLst>
          </a:prstGeom>
          <a:solidFill>
            <a:srgbClr val="12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7443215" y="4535424"/>
            <a:ext cx="2231136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5 locales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· hi · as · bn · 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PS multilingual requirement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9820656" y="4462272"/>
            <a:ext cx="2194560" cy="841248"/>
          </a:xfrm>
          <a:prstGeom prst="roundRect">
            <a:avLst>
              <a:gd name="adj" fmla="val 10000"/>
            </a:avLst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9857232" y="4535424"/>
            <a:ext cx="2121408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&lt; 2 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Telegram target (online)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panic path skips debounce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182880" y="5340096"/>
            <a:ext cx="11795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Sources (problem stats): PIB ‘Tourism in North-Eastern Region’ Dec 2024; MoT India Tourism Data Compendium Key Highlights 2024; Lok Sabha USQ 1299, 27.07.2026 (NCRB). Product stats: repo README + services/ai/artifacts/metrics.json.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72768" y="73152"/>
            <a:ext cx="7863840" cy="658368"/>
          </a:xfrm>
        </p:spPr>
        <p:txBody>
          <a:bodyPr/>
          <a:lstStyle/>
          <a:p>
            <a:pPr eaLnBrk="1" hangingPunct="1" algn="l"/>
            <a:r>
              <a:rPr sz="24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36C21"/>
          </a:solidFill>
          <a:ln w="9525">
            <a:solidFill>
              <a:srgbClr val="F36C2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STS Safety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7818120" y="201168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7818120" y="201168"/>
            <a:ext cx="169164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prototype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82880" y="868680"/>
            <a:ext cx="5852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Technologies  —  every row is free-tier, no card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64592" y="1115568"/>
            <a:ext cx="1051560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201168" y="1133856"/>
            <a:ext cx="996695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1216151" y="1115568"/>
            <a:ext cx="2148840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1252728" y="1133856"/>
            <a:ext cx="20939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Choice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364991" y="1115568"/>
            <a:ext cx="2788920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401568" y="1133856"/>
            <a:ext cx="273405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this, not the obvious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164592" y="1371600"/>
            <a:ext cx="105156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210311" y="1408176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1216151" y="1371600"/>
            <a:ext cx="214884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1261872" y="1408176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Next.js 16 PWA + MapLibre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364991" y="1371600"/>
            <a:ext cx="278892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410711" y="1408176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URL, not an APK. Web Push + Background Sync included.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164592" y="1673352"/>
            <a:ext cx="105156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210311" y="1709928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Hot path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1216151" y="1673352"/>
            <a:ext cx="21488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1261872" y="1709928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PostgREST insert + RLS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364991" y="1673352"/>
            <a:ext cx="27889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410711" y="1709928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Skips serverless. 10 writes/s is noise for Postgres.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164592" y="1975104"/>
            <a:ext cx="105156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10311" y="2011680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Geo engine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1216151" y="1975104"/>
            <a:ext cx="214884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1261872" y="2011680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PostGIS 3  ·  plpgsql trigger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364991" y="1975104"/>
            <a:ext cx="278892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410711" y="2011680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ST_Covers in the database. Client cannot bypass.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164592" y="2276856"/>
            <a:ext cx="105156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210311" y="2313432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Maps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1216151" y="2276856"/>
            <a:ext cx="21488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1261872" y="2313432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OpenFreeMap + Turf.js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364991" y="2276856"/>
            <a:ext cx="27889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3410711" y="2313432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No Mapbox/Google key. On-device pre-check.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164592" y="2578608"/>
            <a:ext cx="105156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210311" y="2615184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Identity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1216151" y="2578608"/>
            <a:ext cx="214884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1261872" y="2615184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Solidity 0.8.24  ·  ERC-5192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3364991" y="2578608"/>
            <a:ext cx="278892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3410711" y="2615184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Soulbound TDID. keccak256 commitment only.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164592" y="2880360"/>
            <a:ext cx="105156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210311" y="2916936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Chain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1216151" y="2880360"/>
            <a:ext cx="21488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1261872" y="2916936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Polygon Amoy / Anvil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3364991" y="2880360"/>
            <a:ext cx="27889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3410711" y="2916936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Free POL. Offline = Foundry Anvil.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164592" y="3182112"/>
            <a:ext cx="105156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210311" y="3218688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ML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1216151" y="3182112"/>
            <a:ext cx="214884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1261872" y="3218688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IsolationForest → ONNX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3364991" y="3182112"/>
            <a:ext cx="278892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3410711" y="3218688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HF Space + onnxruntime-node fallback.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164592" y="3483864"/>
            <a:ext cx="105156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210311" y="3520440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LLM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1216151" y="3483864"/>
            <a:ext cx="21488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1261872" y="3520440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Groq → Gemini → template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3364991" y="3483864"/>
            <a:ext cx="27889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3410711" y="3520440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Brief + E-FIR draft. Never gates the alert.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164592" y="3785616"/>
            <a:ext cx="105156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210311" y="3822192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Notify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1216151" y="3785616"/>
            <a:ext cx="214884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1261872" y="3822192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Realtime + VAPID + Telegram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3364991" y="3785616"/>
            <a:ext cx="2788920" cy="301752"/>
          </a:xfrm>
          <a:prstGeom prst="rect">
            <a:avLst/>
          </a:prstGeom>
          <a:solidFill>
            <a:srgbClr val="F5F7FA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3410711" y="3822192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Twilio/SMS is a stub for a ministry short-code.</a:t>
            </a:r>
          </a:p>
        </p:txBody>
      </p:sp>
      <p:sp>
        <p:nvSpPr>
          <p:cNvPr id="17473" name="Rectangle 17472"/>
          <p:cNvSpPr/>
          <p:nvPr/>
        </p:nvSpPr>
        <p:spPr>
          <a:xfrm>
            <a:off x="164592" y="4087368"/>
            <a:ext cx="105156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210311" y="4123944"/>
            <a:ext cx="978407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Privacy</a:t>
            </a:r>
          </a:p>
        </p:txBody>
      </p:sp>
      <p:sp>
        <p:nvSpPr>
          <p:cNvPr id="17475" name="Rectangle 17474"/>
          <p:cNvSpPr/>
          <p:nvPr/>
        </p:nvSpPr>
        <p:spPr>
          <a:xfrm>
            <a:off x="1216151" y="4087368"/>
            <a:ext cx="21488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1261872" y="4123944"/>
            <a:ext cx="207568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pgcrypto + RLS + 24h purge</a:t>
            </a:r>
          </a:p>
        </p:txBody>
      </p:sp>
      <p:sp>
        <p:nvSpPr>
          <p:cNvPr id="17477" name="Rectangle 17476"/>
          <p:cNvSpPr/>
          <p:nvPr/>
        </p:nvSpPr>
        <p:spPr>
          <a:xfrm>
            <a:off x="3364991" y="4087368"/>
            <a:ext cx="27889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3410711" y="4123944"/>
            <a:ext cx="271576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DPDP: consent, purpose-limit, right to erasure.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6263640" y="868680"/>
            <a:ext cx="5760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Methodology  —  SOS / geo-fence hot path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6263640" y="1152144"/>
            <a:ext cx="175564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81" name="Oval 17480"/>
          <p:cNvSpPr/>
          <p:nvPr/>
        </p:nvSpPr>
        <p:spPr>
          <a:xfrm>
            <a:off x="6336792" y="1243584"/>
            <a:ext cx="256032" cy="256032"/>
          </a:xfrm>
          <a:prstGeom prst="ellipse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82" name="TextBox 17481"/>
          <p:cNvSpPr txBox="1"/>
          <p:nvPr/>
        </p:nvSpPr>
        <p:spPr>
          <a:xfrm>
            <a:off x="6336792" y="1261872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629400" y="1261872"/>
            <a:ext cx="12984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Device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6355079" y="1554480"/>
            <a:ext cx="157276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watchPosition
Turf.js local zone
IndexedDB if offline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8183879" y="1152144"/>
            <a:ext cx="175564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86" name="Oval 17485"/>
          <p:cNvSpPr/>
          <p:nvPr/>
        </p:nvSpPr>
        <p:spPr>
          <a:xfrm>
            <a:off x="8257031" y="1243584"/>
            <a:ext cx="256032" cy="256032"/>
          </a:xfrm>
          <a:prstGeom prst="ellipse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8257031" y="1261872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8549640" y="1261872"/>
            <a:ext cx="12984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Ingest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8275319" y="1554480"/>
            <a:ext cx="157276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RLS insert into
location_pings
~80–150 ms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10104120" y="1152144"/>
            <a:ext cx="175564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91" name="Oval 17490"/>
          <p:cNvSpPr/>
          <p:nvPr/>
        </p:nvSpPr>
        <p:spPr>
          <a:xfrm>
            <a:off x="10177272" y="1243584"/>
            <a:ext cx="256032" cy="256032"/>
          </a:xfrm>
          <a:prstGeom prst="ellipse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92" name="TextBox 17491"/>
          <p:cNvSpPr txBox="1"/>
          <p:nvPr/>
        </p:nvSpPr>
        <p:spPr>
          <a:xfrm>
            <a:off x="10177272" y="1261872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10469880" y="1261872"/>
            <a:ext cx="12984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PostGIS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10195560" y="1554480"/>
            <a:ext cx="157276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evaluate_position()
zone · corridor ·
speed · silence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6263640" y="2569464"/>
            <a:ext cx="175564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96" name="Oval 17495"/>
          <p:cNvSpPr/>
          <p:nvPr/>
        </p:nvSpPr>
        <p:spPr>
          <a:xfrm>
            <a:off x="6336792" y="2660904"/>
            <a:ext cx="256032" cy="256032"/>
          </a:xfrm>
          <a:prstGeom prst="ellipse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97" name="TextBox 17496"/>
          <p:cNvSpPr txBox="1"/>
          <p:nvPr/>
        </p:nvSpPr>
        <p:spPr>
          <a:xfrm>
            <a:off x="6336792" y="2679192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6629400" y="2679192"/>
            <a:ext cx="12984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Incident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355079" y="2971800"/>
            <a:ext cx="157276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INSERT incidents
Realtime &lt;100 ms
control-room siren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8183879" y="2569464"/>
            <a:ext cx="175564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501" name="Oval 17500"/>
          <p:cNvSpPr/>
          <p:nvPr/>
        </p:nvSpPr>
        <p:spPr>
          <a:xfrm>
            <a:off x="8257031" y="2660904"/>
            <a:ext cx="256032" cy="256032"/>
          </a:xfrm>
          <a:prstGeom prst="ellipse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502" name="TextBox 17501"/>
          <p:cNvSpPr txBox="1"/>
          <p:nvPr/>
        </p:nvSpPr>
        <p:spPr>
          <a:xfrm>
            <a:off x="8257031" y="2679192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8549640" y="2679192"/>
            <a:ext cx="12984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Side path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8275319" y="2971800"/>
            <a:ext cx="157276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ONNX score
LLM brief
chain anchor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10104120" y="2569464"/>
            <a:ext cx="1755648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506" name="Oval 17505"/>
          <p:cNvSpPr/>
          <p:nvPr/>
        </p:nvSpPr>
        <p:spPr>
          <a:xfrm>
            <a:off x="10177272" y="2660904"/>
            <a:ext cx="256032" cy="256032"/>
          </a:xfrm>
          <a:prstGeom prst="ellipse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507" name="TextBox 17506"/>
          <p:cNvSpPr txBox="1"/>
          <p:nvPr/>
        </p:nvSpPr>
        <p:spPr>
          <a:xfrm>
            <a:off x="10177272" y="2679192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10469880" y="2679192"/>
            <a:ext cx="129844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Dispatch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10195560" y="2971800"/>
            <a:ext cx="157276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nearest unit
Telegram + Push
E-FIR draft</a:t>
            </a:r>
          </a:p>
        </p:txBody>
      </p:sp>
      <p:sp>
        <p:nvSpPr>
          <p:cNvPr id="17510" name="Rounded Rectangle 17509"/>
          <p:cNvSpPr/>
          <p:nvPr/>
        </p:nvSpPr>
        <p:spPr>
          <a:xfrm>
            <a:off x="6263640" y="4041648"/>
            <a:ext cx="3127248" cy="1298448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511" name="TextBox 17510"/>
          <p:cNvSpPr txBox="1"/>
          <p:nvPr/>
        </p:nvSpPr>
        <p:spPr>
          <a:xfrm>
            <a:off x="6400800" y="4114800"/>
            <a:ext cx="28712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Panic path  —  button to siren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6400800" y="4352544"/>
            <a:ext cx="2871216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Hold 1.5 s → direct RLS incident insert → Realtime takeover → Telegram + Push + email in parallel.
Offline: Background Sync + pre-composed SMS with coordinates.
AI and blockchain stay beside the safety path.</a:t>
            </a:r>
          </a:p>
        </p:txBody>
      </p:sp>
      <p:sp>
        <p:nvSpPr>
          <p:cNvPr id="17513" name="Rectangle 17512"/>
          <p:cNvSpPr/>
          <p:nvPr/>
        </p:nvSpPr>
        <p:spPr>
          <a:xfrm>
            <a:off x="9518904" y="4005072"/>
            <a:ext cx="118872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pic>
        <p:nvPicPr>
          <p:cNvPr id="17514" name="Picture 17513" descr="tourist-login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4041648"/>
            <a:ext cx="1115568" cy="978408"/>
          </a:xfrm>
          <a:prstGeom prst="rect">
            <a:avLst/>
          </a:prstGeom>
        </p:spPr>
      </p:pic>
      <p:sp>
        <p:nvSpPr>
          <p:cNvPr id="17515" name="TextBox 17514"/>
          <p:cNvSpPr txBox="1"/>
          <p:nvPr/>
        </p:nvSpPr>
        <p:spPr>
          <a:xfrm>
            <a:off x="9555480" y="5074920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Tourist PWA</a:t>
            </a:r>
          </a:p>
        </p:txBody>
      </p:sp>
      <p:sp>
        <p:nvSpPr>
          <p:cNvPr id="17516" name="Rectangle 17515"/>
          <p:cNvSpPr/>
          <p:nvPr/>
        </p:nvSpPr>
        <p:spPr>
          <a:xfrm>
            <a:off x="10799064" y="4005072"/>
            <a:ext cx="1188720" cy="1014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pic>
        <p:nvPicPr>
          <p:cNvPr id="17517" name="Picture 17516" descr="officer-login-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4041648"/>
            <a:ext cx="1115568" cy="941832"/>
          </a:xfrm>
          <a:prstGeom prst="rect">
            <a:avLst/>
          </a:prstGeom>
        </p:spPr>
      </p:pic>
      <p:sp>
        <p:nvSpPr>
          <p:cNvPr id="17518" name="TextBox 17517"/>
          <p:cNvSpPr txBox="1"/>
          <p:nvPr/>
        </p:nvSpPr>
        <p:spPr>
          <a:xfrm>
            <a:off x="10835640" y="5038344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Command centre</a:t>
            </a:r>
          </a:p>
        </p:txBody>
      </p:sp>
      <p:sp>
        <p:nvSpPr>
          <p:cNvPr id="17519" name="TextBox 17518"/>
          <p:cNvSpPr txBox="1"/>
          <p:nvPr/>
        </p:nvSpPr>
        <p:spPr>
          <a:xfrm>
            <a:off x="182880" y="5650992"/>
            <a:ext cx="58521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Surfaces: /home  /sos  /onboard  /dashboard  /verify  ·  Simulator stands in for the IoT band on the same ingest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72768" y="73152"/>
            <a:ext cx="7863840" cy="658368"/>
          </a:xfrm>
        </p:spPr>
        <p:txBody>
          <a:bodyPr/>
          <a:lstStyle/>
          <a:p>
            <a:pPr eaLnBrk="1" hangingPunct="1" algn="l"/>
            <a:r>
              <a:rPr sz="22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36C21"/>
          </a:solidFill>
          <a:ln w="9525">
            <a:solidFill>
              <a:srgbClr val="F36C2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STS Safety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64592" y="932688"/>
            <a:ext cx="59893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164592" y="932688"/>
            <a:ext cx="5989320" cy="292608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292608" y="950976"/>
            <a:ext cx="5760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Feasibility  —  already built and measured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92608" y="1280160"/>
            <a:ext cx="1691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Hold-out IsolationForest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011680" y="1280160"/>
            <a:ext cx="2331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P = 1.00   R = 0.56   F1 = 0.72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011680" y="1444751"/>
            <a:ext cx="3931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n_test = 1,650  ·  threshold 0.72  ·  18 features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92608" y="1664207"/>
            <a:ext cx="1691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Confusion (hold-out)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011680" y="1664207"/>
            <a:ext cx="2331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TN 1,500  ·  FP 0  ·  TP 84  ·  FN 66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011680" y="1828799"/>
            <a:ext cx="3931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0 false positives on 1,500 normal-trek windows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92608" y="2048255"/>
            <a:ext cx="1691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Scenario recall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011680" y="2048255"/>
            <a:ext cx="2331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zone-breach 1.00  ·  stationary-anomaly 1.00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011680" y="2212848"/>
            <a:ext cx="3931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route-deviation 0.00 — caught by PostGIS rules, not the forest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92608" y="2432303"/>
            <a:ext cx="1691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SOS latency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011680" y="2432303"/>
            <a:ext cx="2331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180–450 ms first channel (local)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011680" y="2596896"/>
            <a:ext cx="3931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Telegram target &lt; 2,000 ms when the bot is live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92608" y="2816351"/>
            <a:ext cx="1691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Cost / scale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011680" y="2816351"/>
            <a:ext cx="2331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₹0 at demo  ·  24 h ping downsample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011680" y="2980944"/>
            <a:ext cx="3931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50 tourists × 1 ping / 5 s ≈ 104 MB/day before downsample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272784" y="932688"/>
            <a:ext cx="5742432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6272784" y="932688"/>
            <a:ext cx="5742432" cy="292608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6400800" y="950976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Viability  —  government adoption, not a startup deck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00800" y="1298448"/>
            <a:ext cx="5486400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Who pays: MDoNER / state tourism + police. We are a processor; they are the data fiduciary.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Why they would: 7 NE states have no Tourist Police. This is a force-multiplier for 112 / control rooms, not a consumer app.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Month-one production (if funded): (1) ministry SMS short-code, (2) real ILP/KYC adapter, (3) non-pausing Postgres, (4) Amoy → Polygon mainnet with a hardware-backed issuer, (5) CERT-In threat model. The geofence engine does not change.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We do not claim a ₹-crore TAM or a 20% crime drop. Those numbers are not in any official series we can cite.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82880" y="3346704"/>
            <a:ext cx="11887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Challenges, risks, and the strategy already in the repo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164592" y="3602736"/>
            <a:ext cx="385876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256032" y="3712463"/>
            <a:ext cx="329184" cy="32918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256032" y="3749039"/>
            <a:ext cx="3291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0080" y="3694176"/>
            <a:ext cx="3273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Low connectivity
(Arunachal / hills)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274320" y="4059935"/>
            <a:ext cx="3639312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IndexedDB queue + Background Sync. Turf.js warns on-device. SOS falls back to sms: with coordinates. Offline demo: four env switches (DB / chain / AI / tiles).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169663" y="3602736"/>
            <a:ext cx="385876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4261103" y="3712463"/>
            <a:ext cx="329184" cy="32918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4261103" y="3749039"/>
            <a:ext cx="3291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645152" y="3694176"/>
            <a:ext cx="3273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GPS spoof / rooted
phone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279392" y="4059935"/>
            <a:ext cx="3639312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Cannot stop a rooted device. Refuse implausible speed (&gt;150 km/h). Session JWT. SOS is higher-trust because it is a user gesture. Checkpoint QR still binds the person.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174736" y="3602736"/>
            <a:ext cx="385876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8266175" y="3712463"/>
            <a:ext cx="329184" cy="32918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266175" y="3749039"/>
            <a:ext cx="3291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650224" y="3694176"/>
            <a:ext cx="3273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Synthetic ML data
(DPDP)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284463" y="4059935"/>
            <a:ext cx="3639312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Stated in the pitch. IsolationForest is unsupervised on generated NE tracks. The decision to alert is rules + PostGIS. Rules-only is one env flip.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164592" y="4681728"/>
            <a:ext cx="385876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9" name="Oval 17448"/>
          <p:cNvSpPr/>
          <p:nvPr/>
        </p:nvSpPr>
        <p:spPr>
          <a:xfrm>
            <a:off x="256032" y="4791456"/>
            <a:ext cx="329184" cy="32918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256032" y="4828032"/>
            <a:ext cx="3291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40080" y="4773168"/>
            <a:ext cx="3273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LLM + legal E-FIR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274320" y="5138928"/>
            <a:ext cx="3639312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Correct: an LLM cannot file. We draft a narrative PDF. approved_by is a human. Nothing is submitted to CCTNS from this system.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169663" y="4681728"/>
            <a:ext cx="385876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4" name="Oval 17453"/>
          <p:cNvSpPr/>
          <p:nvPr/>
        </p:nvSpPr>
        <p:spPr>
          <a:xfrm>
            <a:off x="4261103" y="4791456"/>
            <a:ext cx="329184" cy="32918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4261103" y="4828032"/>
            <a:ext cx="3291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645152" y="4773168"/>
            <a:ext cx="3273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Free-tier pause /
rate-limit on stage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279392" y="5138928"/>
            <a:ext cx="3639312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GitHub Action hits /api/health every 6 h. Local supabase start + Anvil + ONNX + PMTiles is the stage fallback. Rehearsed unplugged.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8174736" y="4681728"/>
            <a:ext cx="385876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9" name="Oval 17458"/>
          <p:cNvSpPr/>
          <p:nvPr/>
        </p:nvSpPr>
        <p:spPr>
          <a:xfrm>
            <a:off x="8266175" y="4791456"/>
            <a:ext cx="329184" cy="32918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266175" y="4828032"/>
            <a:ext cx="32918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650224" y="4773168"/>
            <a:ext cx="3273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Privacy / DPDP /
“is this surveillance?”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284463" y="5138928"/>
            <a:ext cx="3639312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Opt-in, trip-scoped, purpose = safety. KYC encrypted, never on-chain, never logged. RLS on every table. 24 h ping retention. Emergency contacts only at critical.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72768" y="73152"/>
            <a:ext cx="7863840" cy="658368"/>
          </a:xfrm>
        </p:spPr>
        <p:txBody>
          <a:bodyPr/>
          <a:lstStyle/>
          <a:p>
            <a:pPr eaLnBrk="1" hangingPunct="1" algn="l"/>
            <a:r>
              <a:rPr sz="24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36C21"/>
          </a:solidFill>
          <a:ln w="9525">
            <a:solidFill>
              <a:srgbClr val="F36C2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STS Safety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64592" y="914400"/>
            <a:ext cx="2304288" cy="1024128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237744" y="987552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9.95 million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37744" y="1316736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Foreign tourist arrivals, 2024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37744" y="1627632"/>
            <a:ext cx="215798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B8C4D2"/>
                </a:solidFill>
                <a:latin typeface="Calibri"/>
                <a:ea typeface="Calibri"/>
                <a:cs typeface="Calibri"/>
              </a:rPr>
              <a:t>MoT / BoI  ·  PIB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560320" y="914400"/>
            <a:ext cx="2304288" cy="1024128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2633472" y="987552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2.51 billion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633472" y="1316736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Domestic tourist visits, 2023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633472" y="1627632"/>
            <a:ext cx="215798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B8C4D2"/>
                </a:solidFill>
                <a:latin typeface="Calibri"/>
                <a:ea typeface="Calibri"/>
                <a:cs typeface="Calibri"/>
              </a:rPr>
              <a:t>MoT  ·  PIB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956048" y="914400"/>
            <a:ext cx="2304288" cy="1024128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029200" y="987552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5.22%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0" y="1316736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Tourism share of GDP, 2023-24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0" y="1627632"/>
            <a:ext cx="215798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B8C4D2"/>
                </a:solidFill>
                <a:latin typeface="Calibri"/>
                <a:ea typeface="Calibri"/>
                <a:cs typeface="Calibri"/>
              </a:rPr>
              <a:t>TSA / PLFS, provisional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351776" y="914400"/>
            <a:ext cx="2304288" cy="1024128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424928" y="987552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8.46 crore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424928" y="1316736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Tourism jobs (direct+indirect)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424928" y="1627632"/>
            <a:ext cx="215798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B8C4D2"/>
                </a:solidFill>
                <a:latin typeface="Calibri"/>
                <a:ea typeface="Calibri"/>
                <a:cs typeface="Calibri"/>
              </a:rPr>
              <a:t>PLFS 2023-24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747504" y="914400"/>
            <a:ext cx="2304288" cy="1024128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820656" y="987552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1.21 crore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9820656" y="1316736"/>
            <a:ext cx="2157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 domestic visits, 2023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820656" y="1627632"/>
            <a:ext cx="215798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B8C4D2"/>
                </a:solidFill>
                <a:latin typeface="Calibri"/>
                <a:ea typeface="Calibri"/>
                <a:cs typeface="Calibri"/>
              </a:rPr>
              <a:t>PIB NER  ·  State Depts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164592" y="2048256"/>
            <a:ext cx="385876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164592" y="2048256"/>
            <a:ext cx="3858768" cy="329184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74320" y="2084831"/>
            <a:ext cx="36393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Social  —  who is safer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92608" y="246888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Tourists (domestic + foreign) in Kaziranga, Tawang, Sohra, Loktak, border approaches — restricted-zone warning before they are lost.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92608" y="301752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Women / solo travellers: hold-to-SOS that actually reaches a human, with last-known point and digital ID.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92608" y="356616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Families: opt-in tracking, emergency contacts only at critical — not a live broadcast.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292608" y="411480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Check-post / hotel / forest staff: one QR, green/amber/red, no central API dependency.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292608" y="466344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5 UI languages (en, hi, as, bn, ne) matching the PS multilingual clause.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169663" y="2048256"/>
            <a:ext cx="385876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4169663" y="2048256"/>
            <a:ext cx="3858768" cy="329184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4279392" y="2084831"/>
            <a:ext cx="36393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Economic  —  what it unlocks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297679" y="246888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Tourism is 5.22% of GDP and 84.63 million jobs. NE is a MoT + MDoNER priority that still takes only 2.05% of FTAs.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297679" y="301752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Perception of safety is a binding constraint on high-value / foreign itineraries into the hills.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297679" y="356616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Control-room MTTA/MTTR becomes measurable. Today most NE states have no Tourist Police unit to even record that clock.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297679" y="411480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₹0 to run the prototype. First paid line in production is SMS + a non-pausing database — not a rewrite.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297679" y="466344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E-FIR drafts cut officer paperwork; the officer still signs.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174736" y="2048256"/>
            <a:ext cx="385876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8174736" y="2048256"/>
            <a:ext cx="3858768" cy="329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284463" y="2084831"/>
            <a:ext cx="36393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Governance / environment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302752" y="246888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MDoNER PS delivered as specified: ID + geo-fence + AI + dashboard + E-FIR.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302752" y="301752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Aligns with Tourist Police Scheme (BPR&amp;D / MHA / MoT national conference) — a software layer those 7 NE states can actually use.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302752" y="356616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DPDP 2023: data minimisation (no PII on-chain), purpose limitation, retention cron, right to erasure.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302752" y="411480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Kaziranga / forest restricted polygons reduce illegal entry into core habitat — a conservation side-effect of the geo-fence, not a claimed ‘carbon’ product.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302752" y="4663440"/>
            <a:ext cx="360273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Inner Line / LAC: we seed public caution polygons (Bum La approach), not classified overlays.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182880" y="5358384"/>
            <a:ext cx="11795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We do not invent a ‘lives saved’ or ‘₹ X crore unlocked’ figure. Impact is: faster, auditable incident response for a region that currently has neither a tourist-police layer nor a domestic-tourist crime series.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72768" y="73152"/>
            <a:ext cx="7863840" cy="658368"/>
          </a:xfrm>
        </p:spPr>
        <p:txBody>
          <a:bodyPr/>
          <a:lstStyle/>
          <a:p>
            <a:pPr eaLnBrk="1" hangingPunct="1" algn="l"/>
            <a:r>
              <a:rPr sz="2200" b="1" i="0">
                <a:solidFill>
                  <a:srgbClr val="F36C21"/>
                </a:solidFill>
                <a:latin typeface="Calibri"/>
                <a:ea typeface="Calibri"/>
                <a:cs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36C21"/>
          </a:solidFill>
          <a:ln w="9525">
            <a:solidFill>
              <a:srgbClr val="F36C2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STS Safety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2880" y="868680"/>
            <a:ext cx="7680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Comparison with existing / typical SIH tourist-safety builds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164592" y="1097280"/>
            <a:ext cx="1417320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210311" y="111556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581912" y="1097280"/>
            <a:ext cx="5074920" cy="256032"/>
          </a:xfrm>
          <a:prstGeom prst="rect">
            <a:avLst/>
          </a:prstGeom>
          <a:solidFill>
            <a:srgbClr val="F36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1627632" y="111556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STS Safety (this prototype)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656831" y="1097280"/>
            <a:ext cx="5440680" cy="2560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702551" y="111556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Typical conventional build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164592" y="1353312"/>
            <a:ext cx="14173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210311" y="138988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Geo-fence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1581912" y="1353312"/>
            <a:ext cx="50749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1627632" y="138988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PostGIS trigger; client cannot skip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656831" y="1353312"/>
            <a:ext cx="544068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702551" y="138988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App if-else or Mongo $geoWithin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164592" y="1627632"/>
            <a:ext cx="14173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210311" y="166420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Digital ID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1581912" y="1627632"/>
            <a:ext cx="50749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627632" y="166420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ERC-5192 soulbound + keccak256 commitment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6656831" y="1627632"/>
            <a:ext cx="544068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702551" y="166420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QR in a database, or NFT with PII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164592" y="1901952"/>
            <a:ext cx="14173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210311" y="193852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AI role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1581912" y="1901952"/>
            <a:ext cx="50749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1627632" y="193852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Ranks only. Rules decide. LLM never gates SOS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6656831" y="1901952"/>
            <a:ext cx="544068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702551" y="193852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LLM on GPS / ‘predictive hotspot’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164592" y="2176272"/>
            <a:ext cx="14173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210311" y="221284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Offline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1581912" y="2176272"/>
            <a:ext cx="50749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1627632" y="221284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Turf.js + IndexedDB + sms: + Anvil + ONNX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6656831" y="2176272"/>
            <a:ext cx="544068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702551" y="221284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Needs internet / paid Map SDK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164592" y="2450591"/>
            <a:ext cx="14173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210311" y="248716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Privacy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1581912" y="2450591"/>
            <a:ext cx="50749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1627632" y="248716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RLS, pgcrypto, 24 h ping purge, no PII on-chain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656831" y="2450591"/>
            <a:ext cx="544068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702551" y="248716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Central Aadhaar log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164592" y="2724912"/>
            <a:ext cx="14173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210311" y="276148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E-FIR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1581912" y="2724912"/>
            <a:ext cx="50749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1627632" y="276148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Officer-approved PDF; hash anchored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6656831" y="2724912"/>
            <a:ext cx="544068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6702551" y="276148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Chatbot ‘files’ a legal document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164592" y="2999232"/>
            <a:ext cx="14173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210311" y="303580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1581912" y="2999232"/>
            <a:ext cx="507492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1627632" y="303580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₹0, no card, four local fallbacks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6656831" y="2999232"/>
            <a:ext cx="5440680" cy="274320"/>
          </a:xfrm>
          <a:prstGeom prst="rect">
            <a:avLst/>
          </a:prstGeom>
          <a:solidFill>
            <a:srgbClr val="F5F7FA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6702551" y="303580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Twilio + Mapbox + Firebase Blaze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164592" y="3273552"/>
            <a:ext cx="14173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210311" y="3310128"/>
            <a:ext cx="13441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ML honesty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1581912" y="3273552"/>
            <a:ext cx="507492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1627632" y="3310128"/>
            <a:ext cx="50017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Synthetic tracks; metrics published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6656831" y="3273552"/>
            <a:ext cx="5440680" cy="27432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6702551" y="3310128"/>
            <a:ext cx="536752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Unstated accuracy on unseen GPS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164592" y="3657600"/>
            <a:ext cx="5989320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6" name="Rectangle 17465"/>
          <p:cNvSpPr/>
          <p:nvPr/>
        </p:nvSpPr>
        <p:spPr>
          <a:xfrm>
            <a:off x="164592" y="3657600"/>
            <a:ext cx="5989320" cy="274320"/>
          </a:xfrm>
          <a:prstGeom prst="rect">
            <a:avLst/>
          </a:prstGeom>
          <a:solidFill>
            <a:srgbClr val="0E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292608" y="3675887"/>
            <a:ext cx="5760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scope  —  only what the architecture already allows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292608" y="3986784"/>
            <a:ext cx="5742432" cy="13167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Ministry SMS short-code on the existing INotificationChannel adapter (sms.stub.ts).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Real Inner Line Permit / KYC adapter; custodial HD wallet → ERC-4337 paymaster.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Polygon mainnet + hardware-backed issuer. Contracts are vanilla OZ v5 — config, not a rewrite.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Physical IoT band posting to the same location_pings ingest (the simulator is that interface today).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CERT-In intake + threat model. Geofence engine stays in Postgres.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272784" y="3657600"/>
            <a:ext cx="5742432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0" name="Rectangle 17469"/>
          <p:cNvSpPr/>
          <p:nvPr/>
        </p:nvSpPr>
        <p:spPr>
          <a:xfrm>
            <a:off x="6272784" y="3657600"/>
            <a:ext cx="5742432" cy="274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6400800" y="3675887"/>
            <a:ext cx="5486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References  —  clickable in the PDF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400800" y="3968496"/>
            <a:ext cx="5486400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0070C0"/>
                </a:solidFill>
                <a:latin typeface="Calibri"/>
                <a:ea typeface="Calibri"/>
                <a:cs typeface="Calibri"/>
                <a:hlinkClick r:id="rId4"/>
              </a:rPr>
              <a:t>•  MoT / PIB — Tourism in NER, DTV+FTV 2023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0070C0"/>
                </a:solidFill>
                <a:latin typeface="Calibri"/>
                <a:ea typeface="Calibri"/>
                <a:cs typeface="Calibri"/>
                <a:hlinkClick r:id="rId5"/>
              </a:rPr>
              <a:t>•  MoT Compendium Key Highlights 2024 (NE FTA 2.05%)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0070C0"/>
                </a:solidFill>
                <a:latin typeface="Calibri"/>
                <a:ea typeface="Calibri"/>
                <a:cs typeface="Calibri"/>
                <a:hlinkClick r:id="rId6"/>
              </a:rPr>
              <a:t>•  PIB — FTA 9.95M (2024); GDP 5.22%; jobs 84.63M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0070C0"/>
                </a:solidFill>
                <a:latin typeface="Calibri"/>
                <a:ea typeface="Calibri"/>
                <a:cs typeface="Calibri"/>
                <a:hlinkClick r:id="rId7"/>
              </a:rPr>
              <a:t>•  Lok Sabha USQ 1299 (27.07.2026) — Tourist Police + NCRB 156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DPDP Act 2023  ·  ERC-5192  ·  W3C Verifiable Credentials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Liu et al., Isolation Forest, ICDM 2008  ·  PostGIS ST_Covers / GiST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A222E"/>
                </a:solidFill>
                <a:latin typeface="Calibri"/>
                <a:ea typeface="Calibri"/>
                <a:cs typeface="Calibri"/>
              </a:rPr>
              <a:t>•  SIH PS SIH25002 — MDoNER, Travel &amp; Tourism, Software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182880" y="5413248"/>
            <a:ext cx="11795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1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Prototype: tourist PWA + command centre + checkpoint verify + PostGIS engine + ONNX model + Anvil/Amoy contracts. Demo script: docs/DEMO-SCRIPT.md  ·  Hostile Q&amp;A: docs/JUDGE-QA.md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314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Microsoft account</cp:lastModifiedBy>
  <cp:revision>149</cp:revision>
  <dcterms:created xsi:type="dcterms:W3CDTF">2013-12-12T18:46:50Z</dcterms:created>
  <dcterms:modified xsi:type="dcterms:W3CDTF">2026-08-10T14:55:07Z</dcterms:modified>
  <cp:category/>
</cp:coreProperties>
</file>